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B1F24"/>
                </a:solidFill>
                <a:latin typeface="맑은 고딕"/>
              </a:rPr>
              <a:t>딥러닝 기반 비등 상분포(Phase Distribution) 자동 분할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570"/>
                </a:solidFill>
                <a:latin typeface="맑은 고딕"/>
              </a:rPr>
              <a:t>대용량 시계열 비등 가시화 이미지를 dry spot · microlayer · bulk liquid 3개 영역으로 자동 라벨링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85855" cy="10972"/>
          </a:xfrm>
          <a:prstGeom prst="rect">
            <a:avLst/>
          </a:prstGeom>
          <a:solidFill>
            <a:srgbClr val="DD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66344" y="1335024"/>
            <a:ext cx="11259007" cy="2901801"/>
          </a:xfrm>
          <a:prstGeom prst="roundRect">
            <a:avLst>
              <a:gd name="adj" fmla="val 3000"/>
            </a:avLst>
          </a:prstGeom>
          <a:solidFill>
            <a:srgbClr val="F4F5F7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oiling_segmenation_resul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11185855" cy="282864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4337409"/>
            <a:ext cx="118872" cy="118872"/>
          </a:xfrm>
          <a:prstGeom prst="roundRect">
            <a:avLst>
              <a:gd name="adj" fmla="val 30000"/>
            </a:avLst>
          </a:prstGeom>
          <a:solidFill>
            <a:srgbClr val="D84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309977"/>
            <a:ext cx="155448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맑은 고딕"/>
              </a:rPr>
              <a:t>dry spot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27632" y="4337409"/>
            <a:ext cx="118872" cy="118872"/>
          </a:xfrm>
          <a:prstGeom prst="roundRect">
            <a:avLst>
              <a:gd name="adj" fmla="val 30000"/>
            </a:avLst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10512" y="4309977"/>
            <a:ext cx="155448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맑은 고딕"/>
              </a:rPr>
              <a:t>microlayer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7791" y="4337409"/>
            <a:ext cx="118872" cy="118872"/>
          </a:xfrm>
          <a:prstGeom prst="roundRect">
            <a:avLst>
              <a:gd name="adj" fmla="val 30000"/>
            </a:avLst>
          </a:prstGeom>
          <a:solidFill>
            <a:srgbClr val="2F7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90672" y="4309977"/>
            <a:ext cx="155448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맑은 고딕"/>
              </a:rPr>
              <a:t>bulk liquid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309977"/>
            <a:ext cx="11185855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993A1"/>
                </a:solidFill>
                <a:latin typeface="맑은 고딕"/>
              </a:rPr>
              <a:t>(좌) 원본 그레이스케일 프레임   →   (우) 모델 예측 상분포 마스크 오버레이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694025"/>
            <a:ext cx="2673019" cy="1752494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4694025"/>
            <a:ext cx="2673019" cy="45720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" y="4822041"/>
            <a:ext cx="2398699" cy="1514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>
                <a:solidFill>
                  <a:srgbClr val="D8431F"/>
                </a:solidFill>
                <a:latin typeface="Consolas"/>
              </a:rPr>
              <a:t>STEP 1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B1F24"/>
                </a:solidFill>
                <a:latin typeface="맑은 고딕"/>
              </a:rPr>
              <a:t>라벨 데이터 생성 (SAM)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5B6570"/>
                </a:solidFill>
                <a:latin typeface="맑은 고딕"/>
              </a:rPr>
              <a:t>Segment Anything(ViT) 포인트 프롬프트로 프레임별 dry spot / microlayer / bulk liquid 마스크 반자동 생성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40531" y="4694025"/>
            <a:ext cx="2673019" cy="1752494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40531" y="4694025"/>
            <a:ext cx="2673019" cy="45720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86835" y="4822041"/>
            <a:ext cx="2398699" cy="1514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>
                <a:solidFill>
                  <a:srgbClr val="D8431F"/>
                </a:solidFill>
                <a:latin typeface="Consolas"/>
              </a:rPr>
              <a:t>STEP 2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B1F24"/>
                </a:solidFill>
                <a:latin typeface="맑은 고딕"/>
              </a:rPr>
              <a:t>모델 구조 (U-Net)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5B6570"/>
                </a:solidFill>
                <a:latin typeface="맑은 고딕"/>
              </a:rPr>
              <a:t>ResNet-34 인코더(ImageNet 사전학습) + U-Net 디코더, skip connection 구조, 3-class semantic segmentation (약 2,450만 파라미터)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8143" y="4694025"/>
            <a:ext cx="2673019" cy="1752494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8143" y="4694025"/>
            <a:ext cx="2673019" cy="45720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4447" y="4822041"/>
            <a:ext cx="2398699" cy="1514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>
                <a:solidFill>
                  <a:srgbClr val="D8431F"/>
                </a:solidFill>
                <a:latin typeface="Consolas"/>
              </a:rPr>
              <a:t>STEP 3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B1F24"/>
                </a:solidFill>
                <a:latin typeface="맑은 고딕"/>
              </a:rPr>
              <a:t>학습 설정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5B6570"/>
                </a:solidFill>
                <a:latin typeface="맑은 고딕"/>
              </a:rPr>
              <a:t>CrossEntropy + Dice Loss(클래스 불균형 가중치), AdamW + Cosine LR, Mixed Precision, 이미지 증강(flip/affine/노이즈 등)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15755" y="4694025"/>
            <a:ext cx="2673019" cy="1752494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 w="9525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15755" y="4694025"/>
            <a:ext cx="2673019" cy="45720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62059" y="4822041"/>
            <a:ext cx="2398699" cy="1514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>
                <a:solidFill>
                  <a:srgbClr val="D8431F"/>
                </a:solidFill>
                <a:latin typeface="Consolas"/>
              </a:rPr>
              <a:t>RESULT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B1F24"/>
                </a:solidFill>
                <a:latin typeface="맑은 고딕"/>
              </a:rPr>
              <a:t>성능 · 자동화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5B6570"/>
                </a:solidFill>
                <a:latin typeface="맑은 고딕"/>
              </a:rPr>
              <a:t>Val mIoU 0.918 (dry 0.96 / micro 0.79 / bulk 0.99). 대용량 multipage TIF 시계열 일괄 추론 + 프레임별 상 면적비율 CSV 자동 산출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